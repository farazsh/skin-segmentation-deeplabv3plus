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2" r:id="rId10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09:09:18.6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 1,'578'0,"-550"1,1 2,28 6,42 5,5-11,71 6,-36 10,-107-13,57 2,-59-7,-1 2,51 11,-20-7,-53-7,-1 0,1 0,-1 1,1 0,-1 0,1 0,-1 1,0 0,1 0,-1 0,0 1,-1 0,1 0,0 1,7 6,-10-6,1 0,-1 1,0 0,0-1,0 1,0 1,-1-1,0 0,0 0,-1 1,2 8,-2-12,-1 0,0-1,1 1,-1 0,0 0,0 0,0 0,0 0,-1 0,1-1,0 1,-1 0,1 0,-1 0,0-1,0 1,1 0,-1-1,0 1,0-1,-1 1,1-1,0 1,0-1,-1 0,1 0,-1 1,1-1,-1 0,1 0,-1-1,0 1,0 0,1 0,-1-1,0 1,-3 0,-28 2,1-2,-56-4,10 1,62 1,0-1,0 0,-31-9,6 1,-20-2,-78-6,77 17,-77 9,77-3,-117 7,151-9,-26 4,-64 0,-333-7,439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09:09:31.27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2,'103'-2,"107"4,-159 5,-27-3,41 0,-2 4,-28-2,91 22,-76-14,-42-11,0 0,1-1,-1 0,1 0,13 1,7-1,49 10,-52-7,0-1,40 1,-54-5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09:09:35.19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1 100,'805'0,"-788"-1,-1-1,0 0,25-8,-25 6,0 1,0 0,29-1,-43 4,-1 0,1 0,0 0,0 0,0 0,-1 0,1-1,0 1,-1 0,1-1,0 0,-1 1,1-1,0 0,-1 0,3-2,-3 3,-1-1,0 1,0 0,0-1,0 1,1-1,-1 1,0 0,0-1,0 1,0-1,0 1,0 0,0-1,0 1,0-1,0 1,0 0,0-1,0 1,-1-1,1 1,0 0,0-1,-1 0,-13-13,7 9,0 1,0 0,-1 0,1 1,-1-1,0 2,-16-4,7 3,-1 2,-30 0,-432 3,255-3,213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09:10:18.80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0 129,'1244'0,"-1228"1,0 1,-1 0,26 8,12 2,45 4,-256-31,57 4,-240-30,-13-1,319 40,0-2,0-1,0-1,1-3,-60-21,94 30,0 0,0 0,0 0,0 0,0 0,0 0,0 0,0 0,0 0,0 0,0 0,0 0,1 0,-1 0,0-1,0 1,0 0,0 0,0 0,0 0,0 0,0 0,0 0,0 0,0 0,0 0,0 0,0 0,0 0,0 0,0 0,0 0,0-1,0 1,0 0,0 0,0 0,0 0,0 0,0 0,0 0,0 0,0 0,0 0,0 0,0 0,0 0,0 0,0-1,0 1,0 0,0 0,0 0,0 0,0 0,0 0,0 0,12-2,19 1,1987 2,-2031 0,0 0,0 2,-17 4,-14 3,-106 8,-168-1,255-12,-64 13,10-2,-59 10,174-26,0 1,1-1,-1 0,0 1,1 0,-1-1,0 1,1 0,-1-1,1 1,0 0,-2 2,3-3,-1 0,1 0,0 1,0-1,0 0,0 1,0-1,-1 0,1 1,0-1,0 0,0 1,0-1,0 0,0 1,0-1,0 0,0 1,0-1,0 0,1 1,-1-1,0 0,0 1,0-1,0 0,0 0,1 1,-1-1,0 0,0 1,0-1,1 0,-1 1,3 1,0 0,0 0,0 0,0-1,0 1,1-1,-1 0,0 0,1 0,3 1,50 5,0-2,109-5,-95-2,256-12,63-1,-379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09:10:22.32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174 202,'97'4,"105"19,19 2,362-18,-338-9,-200 4,1 2,48 11,-51-7,0-2,58 1,-6-6,77-3,-159 1,-1-1,0 0,0-1,0-1,16-6,-28 10,1 0,-1 0,0 0,1 0,-1 0,1-1,-1 1,0 0,1 0,-1 0,0 0,1-1,-1 1,0 0,1 0,-1-1,0 1,0 0,1-1,-1 1,0 0,0-1,1 1,-1 0,0-1,0 1,0 0,0-1,0 1,0-1,0 1,1 0,-1-1,0 1,0-1,-1 1,1 0,0-1,0 1,0-1,0 1,0 0,0-1,0 1,-1 0,1-1,0 1,0-1,0 1,-1 0,1 0,0-1,-1 1,1 0,0-1,0 1,-1 0,1 0,-1 0,1-1,0 1,-1 0,1 0,0 0,-1 0,1 0,-1 0,0 0,-29-13,-20-1,-1 2,-54-5,-108-3,99 10,-587-20,489 22,-225-37,420 42,10 3,-40-5,-1-2,2-2,-1-2,-52-21,75 18,24 14,0 0,0 0,0 0,0-1,0 1,0 0,0 0,0 0,0-1,0 1,0 0,0 0,0-1,0 1,0 0,0 0,0 0,0-1,0 1,0 0,0 0,0 0,0-1,0 1,1 0,-1 0,0 0,0-1,0 1,0 0,0 0,1 0,-1 0,0 0,0 0,0-1,1 1,-1 0,0 0,0 0,0 0,1 0,-1 0,0 0,0 0,0 0,1 0,-1 0,0 0,1 0,7-1,1 0,-1 1,1-1,9 2,488 14,-273-11,-43 9,5 1,204-25,-79 6,-182 7,-20 12,-83-14,0 2,63 10,-103-12,0 0,0 1,0-1,1 1,-1 0,-6 2,-14 2,-138 1,114-6,0 1,-82 15,95-11,-1-1,-39 0,39-3,-70 10,44 1,-91 4,26-4,115-12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09:10:42.45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80,'143'-2,"148"4,-217 5,29 1,12-9,252 9,114 0,-291-10,-173 1,-20-3,-28-2,-335 1,204 7,32-2,-540 23,531-18,47-4,67 3,22 0,16-1,297 2,-185-7,889 2,-992-2,-15-2,-14-1,-14-1,1 1,-1 2,1 0,-1 1,0 1,-31 2,13-1,-848 1,852 1,-56 10,44-5,38-6,1 0,1-1,0 2,-1-1,1 1,0 0,-10 5,54-4,104-28,-97 15,1 2,0 2,47 0,168-6,-117 9,22-3,-4-1,-160 7,0 0,1 0,-1 0,1 0,-1 0,0-1,1 1,-1 0,0-1,1 1,-1-1,0 1,0-1,0 0,1 0,-1 1,0-1,0 0,0 0,0 0,0 0,1-2,-2 2,0 0,0 0,0 0,0 0,-1 0,1 0,0 1,0-1,-1 0,1 0,0 0,-1 0,1 0,-1 1,1-1,-1 0,1 0,-1 1,0-1,1 0,-1 1,0-1,0 1,1-1,-1 1,0-1,0 1,0 0,0-1,0 1,1 0,-1-1,0 1,-1 0,-22-6,0 0,-1 2,1 1,-1 1,1 1,-30 2,10-1,-1031 2,1276-3,443 13,-560-4,56 3,-44-10,236-3,-328 1,8 1,-1 0,1-2,20-4,-61 1,-73 2,0 5,0 4,-135 26,50-10,55-8,80-6,2 0,-89 3,76-12,0 3,-114 18,62-1,101-12,15 3,1-8,0 0,0-1,0 1,0 0,0-1,0 0,0 1,0-1,0 0,4 1,26 7,1 0,0-3,61 5,106-7,-142-4,469-14,-311 12,-132 2,-66 2,-16 1,-31 3,-432 0,262-9,-463 3,652 1,0-1,1-1,-1 0,0 0,1-1,-16-5,65 4,377-18,68-1,-464 22,38 2,0-3,0-3,99-18,-156 22,-1-1,1 1,0-1,0 1,-1-1,1 1,-1-1,1 0,-1 0,1 0,-1 0,1 0,-1 0,0 0,2-2,-3 2,0 1,1-1,-1 1,0-1,0 0,0 1,0-1,0 1,0-1,0 0,0 1,0-1,0 0,0 1,0-1,0 1,-1-1,1 0,0 1,0-1,-1 1,1-1,0 1,-1-1,1 1,-1-1,0 0,-3-3,0 1,-1-1,1 1,-1 0,0 0,0 0,-10-3,-20-6,-1 1,-1 2,0 2,-61-5,-154 5,248 7,-274-8,-4 4,179 4,98 1,0-1,0 1,0 0,1 0,-1 1,-8 3,12-5,1 0,-1 1,0-1,0 1,1-1,-1 0,0 1,1 0,-1-1,1 1,-1-1,0 1,1 0,0-1,-1 1,1 0,-1 0,1-1,-1 2,1-1,1 0,-1 0,0-1,0 1,1 0,-1 0,0 0,1-1,-1 1,1 0,-1 0,1-1,-1 1,1 0,-1-1,1 1,0-1,-1 1,1-1,0 1,-1-1,1 1,1 0,10 4,1 0,-1-1,1-1,-1 0,1 0,0-1,20 0,6 3,315 22,5-25,-188-3,74-15,-76 6,-157 9,6-1,-30 1,-475-12,291 12,-168 2,263 8,-117 25,69-9,292-22,37-6,247-38,-355 33,114 3,-122 6,1-3,84-13,-46-1,48-10,-147 25,0-1,-1 1,1-1,0 0,-1 0,0 0,5-4,18-10,-25 16,0-1,0 1,-1 0,1 0,0-1,0 1,0 0,-1 0,1 0,0 0,0 0,0 0,-1 0,1 0,0 1,0-1,0 0,-1 0,1 1,0-1,-1 1,1-1,0 0,-1 1,1-1,1 2,-1 0,0 0,1-1,-1 1,0 0,0 0,-1 0,1 0,0 0,-1 1,1 1,1 8,-1 0,-1 23,0-31,0 2,0-1,-1 1,1-1,-1 1,0-1,-1 0,1 0,-4 8,3-10,1-1,-1 0,0 0,0 0,1 0,-1 0,-1 0,1 0,0 0,0-1,-1 1,1-1,-1 0,1 0,-1 0,0 0,1 0,-4 0,4 0,0-1,0 0,-1 1,1 0,0-1,0 1,0 0,0 0,0 0,0 0,1 1,-1-1,0 0,0 1,1-1,-1 1,1 0,0-1,-1 1,1 0,0 0,0 0,0 0,0 0,0 0,0 2,-5 9,5-11,0 0,0 0,-1 0,1-1,-1 1,1 0,-1-1,0 0,0 1,0-1,1 0,-1 0,0 0,-1 0,1 0,0 0,-3 0,-45 8,18-4,5-2,-10 2,36-5,0 0,-1 1,1-1,0 1,-1-1,1 1,0-1,0 1,0 0,0-1,0 1,0 0,0 0,0 0,0 0,0 0,0 0,0 0,0 0,0 2,1-2,0 0,0 0,0 0,0 0,0 0,0 0,0 0,0 1,1-1,-1 0,0 0,1 0,-1 0,1 0,-1 0,1 0,-1-1,1 1,0 0,0 0,-1 0,1 0,0-1,0 1,0 0,0-1,0 1,0-1,0 1,0-1,0 1,0-1,0 0,2 1,38 9,91 1,-90-7,0-1,0-3,43-4,-83 3,0 1,-1-1,1 1,-1-1,1 1,-1-1,1 0,-1 0,1 0,-1 0,0 0,1 0,-1 0,0 0,0 0,0-1,0 1,0 0,0-1,0 1,-1-1,1 1,0-1,-1 1,1-1,-1 0,0 1,1-1,-1 1,0-4,1-8,-1 0,0 0,-2-14,0 5,2 8,0 2,0-1,-1 1,-1-1,0 1,0-1,-5-11,2 12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09:32:48.43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09:14:51.00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4EA1C-977B-4386-AE4C-E6CD7966E7D5}" type="datetimeFigureOut">
              <a:rPr lang="en-DE" smtClean="0"/>
              <a:t>23/03/2022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349A5-FE37-47E7-A570-1B4F2F6AD9A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47369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349A5-FE37-47E7-A570-1B4F2F6AD9A8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62400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59A5C-175D-4014-8D3D-8F932C351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36A96-8B20-482D-9E5E-A5748FD90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28446-30C5-4C3E-AFE4-8160C770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9032-447B-4F9E-BB63-73FD4881A561}" type="datetimeFigureOut">
              <a:rPr lang="en-DE" smtClean="0"/>
              <a:t>23/03/2022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F42B2-9429-4F16-B768-70A460E17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D82A5-E5F0-4A74-A5FA-711591B8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B44-26B8-4E4D-BB12-60BE9535B52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8589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EFF3-7B8B-4152-917B-29EED7D9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EFBBE-C4E0-4296-9E84-4572E6C57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6F389-22B3-4CAC-A71C-E4D38699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9032-447B-4F9E-BB63-73FD4881A561}" type="datetimeFigureOut">
              <a:rPr lang="en-DE" smtClean="0"/>
              <a:t>23/03/2022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D0357-C01D-4838-ABD9-A58089BF7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71660-8B24-4D87-926D-4228C92D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B44-26B8-4E4D-BB12-60BE9535B52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31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BFE45-9158-43EC-BA25-89F4790C8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D3223-E90A-4A18-983D-4E72ACB1C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BD3AE-3E7B-474F-8BE8-1E79FBF29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9032-447B-4F9E-BB63-73FD4881A561}" type="datetimeFigureOut">
              <a:rPr lang="en-DE" smtClean="0"/>
              <a:t>23/03/2022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591E6-CA46-4EA8-A239-E62C04A5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11960-48B4-4DAA-9057-8A94DE3B3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B44-26B8-4E4D-BB12-60BE9535B52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53438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C6859-1835-403B-95BE-44320534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F926F-49F3-467F-A9B9-7544AD1B3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80FE8-AECD-4BF8-8042-41849DC02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FDFDB-FB21-48CA-83F4-00588C00E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9032-447B-4F9E-BB63-73FD4881A561}" type="datetimeFigureOut">
              <a:rPr lang="en-DE" smtClean="0"/>
              <a:t>23/03/2022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23457-0194-409F-84B5-54738D4E0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F81B0-37FB-46C6-90B2-D52A9116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B44-26B8-4E4D-BB12-60BE9535B52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69454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3B6D-0235-4D43-875E-B0C6176A8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EFC33-D51E-4B9D-9D39-DFD5325A9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31D17-A71A-4BBE-89C7-FE391FBD0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8A66D-DAF7-4C27-B52B-E68E957D0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AF8A55-5394-45AE-A4E1-AEE4686ED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CEDAB0-62BB-43F8-9258-D8FDCD362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9032-447B-4F9E-BB63-73FD4881A561}" type="datetimeFigureOut">
              <a:rPr lang="en-DE" smtClean="0"/>
              <a:t>23/03/2022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67F91C-7490-48D3-B56A-C5DAB29A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04B02-A8C9-49AB-A2AE-9971BDC8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B44-26B8-4E4D-BB12-60BE9535B52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95123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50007-C55E-4BA2-97DA-CC3373447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E4E30-B42E-49A3-B882-696B3127C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9032-447B-4F9E-BB63-73FD4881A561}" type="datetimeFigureOut">
              <a:rPr lang="en-DE" smtClean="0"/>
              <a:t>23/03/2022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B7B8DF-AC16-4612-841B-58A673E6D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CB52-8EBE-4951-B2F1-B1E3C955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B44-26B8-4E4D-BB12-60BE9535B52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8964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13A17-ADAC-4B27-B503-969645CB3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9032-447B-4F9E-BB63-73FD4881A561}" type="datetimeFigureOut">
              <a:rPr lang="en-DE" smtClean="0"/>
              <a:t>23/03/2022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03E8FE-137C-4883-B153-808893B9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F2FB1-EF45-4EC9-843A-B32497B46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B44-26B8-4E4D-BB12-60BE9535B52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69890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168E9-9E95-44DB-B1FD-077ED8A5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DFEDF-BAF5-4242-AD9D-CB2D41826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9CFDD-9DF9-4A6D-97E1-C333D99D9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30FBA-F049-4FB4-811D-3CC53902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9032-447B-4F9E-BB63-73FD4881A561}" type="datetimeFigureOut">
              <a:rPr lang="en-DE" smtClean="0"/>
              <a:t>23/03/2022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1AE7F-8DF5-440D-A520-5A20DCA1C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27472-1448-408D-A1F3-CC2EA7C4A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B44-26B8-4E4D-BB12-60BE9535B52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2063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78D71-8CEF-4C68-9805-62F0E97DE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D88BE-2C1E-43DA-BE5D-1639825A4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8548E-A134-474E-A518-5360FAE39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BE32D-7A53-417C-B017-8FE8DFB7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9032-447B-4F9E-BB63-73FD4881A561}" type="datetimeFigureOut">
              <a:rPr lang="en-DE" smtClean="0"/>
              <a:t>23/03/2022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56080-91BC-4ACF-869A-CD3CA914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BF1AD-0947-491C-952F-918AF0D7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B44-26B8-4E4D-BB12-60BE9535B52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73599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1143A-995A-4B2B-975B-276A9FA6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CDE62-EE47-491F-B0A5-6275D6DDF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23815-78F6-490F-AE23-4E1BEA48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9032-447B-4F9E-BB63-73FD4881A561}" type="datetimeFigureOut">
              <a:rPr lang="en-DE" smtClean="0"/>
              <a:t>23/03/2022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7E823-3504-4322-BFBB-8F088322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EA03C-C6BB-4E9E-98A3-7986A34B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B44-26B8-4E4D-BB12-60BE9535B52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988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C7F0D4-8406-4E95-B245-549CA76F52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751412-F649-4DA4-83C1-84373E9BC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2FACF-4D3B-449B-9106-296A48C1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9032-447B-4F9E-BB63-73FD4881A561}" type="datetimeFigureOut">
              <a:rPr lang="en-DE" smtClean="0"/>
              <a:t>23/03/2022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C60AE-0682-4CA1-98AE-A1ED3D22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4FAC-1BB7-4F1B-84E1-951C6C04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B44-26B8-4E4D-BB12-60BE9535B52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5615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945CA7-995A-4EB1-95D9-B8596843E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74D27-A814-4C01-823D-E872476E9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AE541-DE03-4C13-AEC3-7D72A4C3E3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19032-447B-4F9E-BB63-73FD4881A561}" type="datetimeFigureOut">
              <a:rPr lang="en-DE" smtClean="0"/>
              <a:t>23/03/2022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AE379-D018-4207-B28D-DB11DA6C8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34527-56A0-4F81-A403-09AFBAD31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51B44-26B8-4E4D-BB12-60BE9535B52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5761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4.xml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hyperlink" Target="https://github.com/bonlime/keras-deeplab-v3-plu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81964-6666-46A6-AC19-5F45B0592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44880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Precise Skin Detection in Facial Video Recordings Using Synthetic Data</a:t>
            </a:r>
            <a:endParaRPr lang="en-DE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AA381-AE15-42CA-8265-8AD788E18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18062"/>
            <a:ext cx="9144000" cy="1655762"/>
          </a:xfrm>
        </p:spPr>
        <p:txBody>
          <a:bodyPr/>
          <a:lstStyle/>
          <a:p>
            <a:r>
              <a:rPr lang="de-DE" sz="1800" dirty="0">
                <a:effectLst/>
                <a:latin typeface="Univers 45 Light"/>
                <a:ea typeface="Times New Roman" panose="02020603050405020304" pitchFamily="18" charset="0"/>
                <a:cs typeface="Times New Roman" panose="02020603050405020304" pitchFamily="18" charset="0"/>
              </a:rPr>
              <a:t>Institut für Biomedizinische Technik (IBMT)</a:t>
            </a:r>
            <a:br>
              <a:rPr lang="de-DE" sz="1800" dirty="0">
                <a:effectLst/>
                <a:latin typeface="Univers 45 Ligh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800" dirty="0">
                <a:effectLst/>
                <a:latin typeface="Univers 45 Light"/>
                <a:ea typeface="Times New Roman" panose="02020603050405020304" pitchFamily="18" charset="0"/>
                <a:cs typeface="Times New Roman" panose="02020603050405020304" pitchFamily="18" charset="0"/>
              </a:rPr>
              <a:t>(CMS VC Team Project</a:t>
            </a:r>
            <a:r>
              <a:rPr lang="de-DE" sz="1800" dirty="0">
                <a:latin typeface="Univers 45 Light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de-DE" sz="1800" dirty="0">
              <a:effectLst/>
              <a:latin typeface="Univers 45 Ligh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832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4CDA1-F174-4A5B-B50C-2EBCEABD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highlights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27126-F4FE-41B7-908E-ACBA3226A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2 papers specific to skin and face segmentation and part labelling</a:t>
            </a:r>
          </a:p>
          <a:p>
            <a:r>
              <a:rPr lang="en-US" dirty="0"/>
              <a:t> Backbones performance comparison</a:t>
            </a:r>
          </a:p>
          <a:p>
            <a:r>
              <a:rPr lang="en-US" dirty="0"/>
              <a:t> Deeplab V3+ repository for </a:t>
            </a:r>
            <a:r>
              <a:rPr lang="en-US" dirty="0" err="1"/>
              <a:t>keras</a:t>
            </a:r>
            <a:r>
              <a:rPr lang="en-US" dirty="0"/>
              <a:t>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213028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5B97D-F777-4593-9DF5-3227A528D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Semi-supervised Skin Detection by Network with Mutual Guidance</a:t>
            </a:r>
            <a:endParaRPr lang="en-DE" sz="2800" dirty="0"/>
          </a:p>
        </p:txBody>
      </p:sp>
      <p:pic>
        <p:nvPicPr>
          <p:cNvPr id="5" name="Content Placeholder 4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2475C1F2-5850-4057-9070-0DBC21A37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805" y="1459548"/>
            <a:ext cx="5092995" cy="431572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5D4C60-F9E8-43FE-9F5B-5E6B52AA1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52" y="1255039"/>
            <a:ext cx="5381753" cy="47247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971F30-3CD4-4A4D-8162-C67FF8C5FBA1}"/>
              </a:ext>
            </a:extLst>
          </p:cNvPr>
          <p:cNvSpPr txBox="1"/>
          <p:nvPr/>
        </p:nvSpPr>
        <p:spPr>
          <a:xfrm>
            <a:off x="73090" y="6169709"/>
            <a:ext cx="7479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</a:t>
            </a:r>
            <a:r>
              <a:rPr lang="en-US" sz="1800" dirty="0"/>
              <a:t>Semi-supervised Skin Detection by Network with Mutual Guidance</a:t>
            </a:r>
            <a:br>
              <a:rPr lang="en-US" sz="1800" dirty="0"/>
            </a:br>
            <a:r>
              <a:rPr lang="en-US" dirty="0"/>
              <a:t>https://arxiv.org/abs/1908.01977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92985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2D6A1-9FEE-4A0A-9829-BDA924306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Structure of dual-task network with mutual guidance</a:t>
            </a:r>
            <a:endParaRPr lang="en-DE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7ACC03-E7F4-4564-B8F7-30EA08E9B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9738"/>
          <a:stretch/>
        </p:blipFill>
        <p:spPr>
          <a:xfrm>
            <a:off x="838200" y="2052733"/>
            <a:ext cx="10515600" cy="31795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A012A3-60D8-4EE1-847B-7DEE25223A6A}"/>
              </a:ext>
            </a:extLst>
          </p:cNvPr>
          <p:cNvSpPr txBox="1"/>
          <p:nvPr/>
        </p:nvSpPr>
        <p:spPr>
          <a:xfrm>
            <a:off x="157065" y="6074229"/>
            <a:ext cx="7479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</a:t>
            </a:r>
            <a:r>
              <a:rPr lang="en-US" sz="1800" dirty="0"/>
              <a:t>Semi-supervised Skin Detection by Network with Mutual Guidance</a:t>
            </a:r>
            <a:br>
              <a:rPr lang="en-US" sz="1800" dirty="0"/>
            </a:br>
            <a:r>
              <a:rPr lang="en-US" dirty="0"/>
              <a:t>https://arxiv.org/abs/1908.01977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85574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0E4C-96A6-4541-89F2-8AB40D95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Boundary-Attention Semantic Segmentation</a:t>
            </a:r>
            <a:endParaRPr lang="en-DE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96DB2D-21B5-4F32-95BA-91724734E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881" y="1690688"/>
            <a:ext cx="5444887" cy="347847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906A83-E6D9-415E-92C0-20F7295BC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440" y="1403284"/>
            <a:ext cx="6187892" cy="46469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C20DC8-E2FD-42A9-9620-BE1094DC3021}"/>
              </a:ext>
            </a:extLst>
          </p:cNvPr>
          <p:cNvSpPr txBox="1"/>
          <p:nvPr/>
        </p:nvSpPr>
        <p:spPr>
          <a:xfrm>
            <a:off x="194387" y="6115590"/>
            <a:ext cx="87481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</a:t>
            </a:r>
            <a:r>
              <a:rPr lang="en-US" sz="1800" b="0" i="0" u="none" strike="noStrike" baseline="0" dirty="0">
                <a:latin typeface="NimbusRomNo9L-Medi"/>
              </a:rPr>
              <a:t>A New Dataset and Boundary-Attention Semantic Segmentation for Face Parsing</a:t>
            </a:r>
            <a:br>
              <a:rPr lang="en-US" sz="1800" dirty="0"/>
            </a:br>
            <a:r>
              <a:rPr lang="en-US" dirty="0"/>
              <a:t>https://aaai.org/ojs/index.php/AAAI/article/view/6832/6686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511928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26AAD-0F4E-42AC-8EEE-B7F05A820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Structure of Boundary-Attention Semantic Segmentation</a:t>
            </a:r>
            <a:endParaRPr lang="en-DE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97FE06-4C03-424D-B9A9-07E95CE88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82" y="1605753"/>
            <a:ext cx="5049795" cy="1671622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B216C1-6612-49C5-A40B-F13EA6A23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87155"/>
            <a:ext cx="5900968" cy="22150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41C04A-4EA3-4544-843B-5F19A7287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650" y="1310950"/>
            <a:ext cx="5954268" cy="346632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61C577-8522-45ED-A37C-677B1CA4C05D}"/>
              </a:ext>
            </a:extLst>
          </p:cNvPr>
          <p:cNvCxnSpPr/>
          <p:nvPr/>
        </p:nvCxnSpPr>
        <p:spPr>
          <a:xfrm>
            <a:off x="5794310" y="1560542"/>
            <a:ext cx="0" cy="44786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265A3B-5B8C-43B2-8364-E69C8F6C27D9}"/>
              </a:ext>
            </a:extLst>
          </p:cNvPr>
          <p:cNvSpPr txBox="1"/>
          <p:nvPr/>
        </p:nvSpPr>
        <p:spPr>
          <a:xfrm>
            <a:off x="101082" y="6169709"/>
            <a:ext cx="87481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</a:t>
            </a:r>
            <a:r>
              <a:rPr lang="en-US" sz="1800" b="0" i="0" u="none" strike="noStrike" baseline="0" dirty="0">
                <a:latin typeface="NimbusRomNo9L-Medi"/>
              </a:rPr>
              <a:t>A New Dataset and Boundary-Attention Semantic Segmentation for Face Parsing</a:t>
            </a:r>
            <a:br>
              <a:rPr lang="en-US" sz="1800" dirty="0"/>
            </a:br>
            <a:r>
              <a:rPr lang="en-US" dirty="0"/>
              <a:t>https://aaai.org/ojs/index.php/AAAI/article/view/6832/6686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6975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DB01-43D1-4540-9B12-2779E38CA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55" y="55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Comparison of Performance of various DNN model as backbones</a:t>
            </a:r>
            <a:endParaRPr lang="en-DE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13B5EE-0953-4429-A2D0-95F8EB9C1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481" y="1050416"/>
            <a:ext cx="11270923" cy="475716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5E0FB0-BFB9-4BE1-8173-EDF9FAC53AFF}"/>
              </a:ext>
            </a:extLst>
          </p:cNvPr>
          <p:cNvSpPr txBox="1"/>
          <p:nvPr/>
        </p:nvSpPr>
        <p:spPr>
          <a:xfrm>
            <a:off x="2395541" y="5754496"/>
            <a:ext cx="755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accuracy density measures how efficiently each model uses its parameters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2F4FB-E836-4F2B-ACA3-48D47D3377A0}"/>
              </a:ext>
            </a:extLst>
          </p:cNvPr>
          <p:cNvSpPr txBox="1"/>
          <p:nvPr/>
        </p:nvSpPr>
        <p:spPr>
          <a:xfrm>
            <a:off x="0" y="6211669"/>
            <a:ext cx="9061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Reference: Benchmark Analysis of Representative Deep Neural Network Architectures</a:t>
            </a:r>
            <a:br>
              <a:rPr lang="en-US" sz="1800" dirty="0"/>
            </a:br>
            <a:r>
              <a:rPr lang="en-US" dirty="0"/>
              <a:t>https://arxiv.org/pdf/1810.00736.pdf</a:t>
            </a:r>
            <a:endParaRPr lang="en-DE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4D2CBBE-73A2-4D69-B688-4A78DEEB9BB3}"/>
                  </a:ext>
                </a:extLst>
              </p14:cNvPr>
              <p14:cNvContentPartPr/>
              <p14:nvPr/>
            </p14:nvContentPartPr>
            <p14:xfrm>
              <a:off x="1067040" y="4749560"/>
              <a:ext cx="615960" cy="93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4D2CBBE-73A2-4D69-B688-4A78DEEB9B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3400" y="4641920"/>
                <a:ext cx="72360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809CEE-DEB2-40E0-BE7F-3EE6E7C06290}"/>
                  </a:ext>
                </a:extLst>
              </p14:cNvPr>
              <p14:cNvContentPartPr/>
              <p14:nvPr/>
            </p14:nvContentPartPr>
            <p14:xfrm>
              <a:off x="1300320" y="3920840"/>
              <a:ext cx="370440" cy="42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809CEE-DEB2-40E0-BE7F-3EE6E7C0629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2320" y="3884840"/>
                <a:ext cx="40608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EEE4B2C-5623-4F6B-B693-DB31F515FE32}"/>
                  </a:ext>
                </a:extLst>
              </p14:cNvPr>
              <p14:cNvContentPartPr/>
              <p14:nvPr/>
            </p14:nvContentPartPr>
            <p14:xfrm>
              <a:off x="1289880" y="3911120"/>
              <a:ext cx="367920" cy="36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EEE4B2C-5623-4F6B-B693-DB31F515FE3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72240" y="3875120"/>
                <a:ext cx="4035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031B5EB-26EA-4D86-8795-C64BEF2B4B47}"/>
                  </a:ext>
                </a:extLst>
              </p14:cNvPr>
              <p14:cNvContentPartPr/>
              <p14:nvPr/>
            </p14:nvContentPartPr>
            <p14:xfrm>
              <a:off x="9606080" y="3072600"/>
              <a:ext cx="848520" cy="62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031B5EB-26EA-4D86-8795-C64BEF2B4B4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88080" y="3036960"/>
                <a:ext cx="8841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80F7EB0-DDE0-4F0E-AA0D-28C2E1430475}"/>
                  </a:ext>
                </a:extLst>
              </p14:cNvPr>
              <p14:cNvContentPartPr/>
              <p14:nvPr/>
            </p14:nvContentPartPr>
            <p14:xfrm>
              <a:off x="9452000" y="3422160"/>
              <a:ext cx="837720" cy="109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80F7EB0-DDE0-4F0E-AA0D-28C2E143047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34360" y="3386160"/>
                <a:ext cx="87336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853DDE8-0A41-494E-ABFC-04E03286942D}"/>
                  </a:ext>
                </a:extLst>
              </p14:cNvPr>
              <p14:cNvContentPartPr/>
              <p14:nvPr/>
            </p14:nvContentPartPr>
            <p14:xfrm>
              <a:off x="8269760" y="1815120"/>
              <a:ext cx="652680" cy="1270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853DDE8-0A41-494E-ABFC-04E03286942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52120" y="1779120"/>
                <a:ext cx="688320" cy="19872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061925-04D0-43B5-87EB-EDB7A6581005}"/>
              </a:ext>
            </a:extLst>
          </p:cNvPr>
          <p:cNvCxnSpPr>
            <a:cxnSpLocks/>
          </p:cNvCxnSpPr>
          <p:nvPr/>
        </p:nvCxnSpPr>
        <p:spPr>
          <a:xfrm>
            <a:off x="3517641" y="1050416"/>
            <a:ext cx="0" cy="440492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628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FE026B-E757-4593-A974-B5171228AD72}"/>
                  </a:ext>
                </a:extLst>
              </p14:cNvPr>
              <p14:cNvContentPartPr/>
              <p14:nvPr/>
            </p14:nvContentPartPr>
            <p14:xfrm>
              <a:off x="4524752" y="3573081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FE026B-E757-4593-A974-B5171228AD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07112" y="3537081"/>
                <a:ext cx="36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F8FC78F-96AD-46D7-AAAA-FF8343F04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553" y="0"/>
            <a:ext cx="5848447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8B27F3-B52C-49FB-9E0B-B2D33351CB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401" y="378501"/>
            <a:ext cx="7571047" cy="57971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2B07F6-3657-4D9D-9F7E-3BDF7C503156}"/>
              </a:ext>
            </a:extLst>
          </p:cNvPr>
          <p:cNvCxnSpPr/>
          <p:nvPr/>
        </p:nvCxnSpPr>
        <p:spPr>
          <a:xfrm>
            <a:off x="7470843" y="223736"/>
            <a:ext cx="0" cy="65369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2B125B-4FCA-4E7B-A7DF-72D0B691757D}"/>
              </a:ext>
            </a:extLst>
          </p:cNvPr>
          <p:cNvSpPr txBox="1"/>
          <p:nvPr/>
        </p:nvSpPr>
        <p:spPr>
          <a:xfrm>
            <a:off x="247995" y="36030"/>
            <a:ext cx="7837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baseline="0" dirty="0">
                <a:latin typeface="URWPalladioL-Roma"/>
              </a:rPr>
              <a:t>Dataset Metrics applied to the three datasets of human head detection referenced respectively by subfigures (</a:t>
            </a:r>
            <a:r>
              <a:rPr lang="en-US" sz="1800" b="1" i="0" u="none" strike="noStrike" baseline="0" dirty="0">
                <a:latin typeface="URWPalladioL-Bold"/>
              </a:rPr>
              <a:t>a</a:t>
            </a:r>
            <a:r>
              <a:rPr lang="en-US" sz="1800" b="0" i="0" u="none" strike="noStrike" baseline="0" dirty="0">
                <a:latin typeface="URWPalladioL-Roma"/>
              </a:rPr>
              <a:t>–</a:t>
            </a:r>
            <a:r>
              <a:rPr lang="en-US" sz="1800" b="1" i="0" u="none" strike="noStrike" baseline="0" dirty="0">
                <a:latin typeface="URWPalladioL-Bold"/>
              </a:rPr>
              <a:t>c</a:t>
            </a:r>
            <a:r>
              <a:rPr lang="en-US" sz="1800" b="0" i="0" u="none" strike="noStrike" baseline="0" dirty="0">
                <a:latin typeface="URWPalladioL-Roma"/>
              </a:rPr>
              <a:t>) (right)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CE31C3-9B4D-4218-80C4-EEBB469FAE32}"/>
              </a:ext>
            </a:extLst>
          </p:cNvPr>
          <p:cNvSpPr txBox="1"/>
          <p:nvPr/>
        </p:nvSpPr>
        <p:spPr>
          <a:xfrm>
            <a:off x="-3932" y="5929134"/>
            <a:ext cx="7340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Reference: New End-to-End Strategy Based on DeepLabv3+ Semantic Segmentation for Human Head Detection</a:t>
            </a:r>
            <a:br>
              <a:rPr lang="en-US" sz="1800" dirty="0"/>
            </a:br>
            <a:r>
              <a:rPr lang="en-US" dirty="0"/>
              <a:t>https://pubmed.ncbi.nlm.nih.gov/34502738/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66932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E61BE-7B4B-4F93-B71B-DB2C56C79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DeepLab</a:t>
            </a:r>
            <a:r>
              <a:rPr lang="en-US" dirty="0"/>
              <a:t> V3 plus </a:t>
            </a:r>
            <a:r>
              <a:rPr lang="en-US" dirty="0" err="1"/>
              <a:t>Keras</a:t>
            </a:r>
            <a:r>
              <a:rPr lang="en-US" dirty="0"/>
              <a:t> </a:t>
            </a:r>
            <a:r>
              <a:rPr lang="en-US" dirty="0" err="1"/>
              <a:t>implemetation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3DE48-F2F0-464B-BBC5-1C74586A4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600" dirty="0"/>
              <a:t>Repository: </a:t>
            </a:r>
            <a:r>
              <a:rPr lang="en-US" sz="2600" dirty="0">
                <a:hlinkClick r:id="rId2"/>
              </a:rPr>
              <a:t>https://github.com/bonlime/keras-deeplab-v3-plus</a:t>
            </a:r>
            <a:endParaRPr lang="en-US" sz="2600" dirty="0"/>
          </a:p>
          <a:p>
            <a:r>
              <a:rPr lang="en-US" sz="2600" dirty="0"/>
              <a:t>Sample notebook for retraining: https://github.com/Golbstein/Keras-segmentation-deeplab-v3.1/blob/master/segmentation.ipynb</a:t>
            </a:r>
          </a:p>
          <a:p>
            <a:r>
              <a:rPr lang="en-US" dirty="0"/>
              <a:t>Implementation in two backbones</a:t>
            </a:r>
          </a:p>
          <a:p>
            <a:pPr lvl="1"/>
            <a:r>
              <a:rPr lang="en-US" dirty="0" err="1"/>
              <a:t>Xception</a:t>
            </a:r>
            <a:endParaRPr lang="en-US" dirty="0"/>
          </a:p>
          <a:p>
            <a:pPr lvl="1"/>
            <a:r>
              <a:rPr lang="en-US" dirty="0"/>
              <a:t>Mobilenetv2</a:t>
            </a:r>
          </a:p>
          <a:p>
            <a:r>
              <a:rPr lang="en-US" dirty="0"/>
              <a:t>Trained on cityscapes dataset with 400,000 images</a:t>
            </a:r>
          </a:p>
          <a:p>
            <a:r>
              <a:rPr lang="en-US" dirty="0" err="1"/>
              <a:t>Xception</a:t>
            </a:r>
            <a:r>
              <a:rPr lang="en-US" dirty="0"/>
              <a:t> vs MobileNetv2</a:t>
            </a:r>
          </a:p>
          <a:p>
            <a:pPr lvl="1"/>
            <a:r>
              <a:rPr lang="en-US" sz="2000" dirty="0"/>
              <a:t>There are 2 available backbones.</a:t>
            </a:r>
          </a:p>
          <a:p>
            <a:pPr lvl="1"/>
            <a:r>
              <a:rPr lang="en-US" sz="2000" dirty="0" err="1"/>
              <a:t>Xception</a:t>
            </a:r>
            <a:r>
              <a:rPr lang="en-US" sz="2000" dirty="0"/>
              <a:t> backbone is more accurate but has 25 times more parameters than MobileNetv2.</a:t>
            </a:r>
          </a:p>
          <a:p>
            <a:pPr lvl="1"/>
            <a:r>
              <a:rPr lang="en-US" sz="2000" dirty="0"/>
              <a:t>For MobileNetv2 there are pretrained weights only for alpha=1. However, you can initiate model with different values of alpha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4F0FEB-2C7F-4AAE-BC2F-624D569D98C1}"/>
                  </a:ext>
                </a:extLst>
              </p14:cNvPr>
              <p14:cNvContentPartPr/>
              <p14:nvPr/>
            </p14:nvContentPartPr>
            <p14:xfrm>
              <a:off x="7473512" y="6577641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4F0FEB-2C7F-4AAE-BC2F-624D569D98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5512" y="6542001"/>
                <a:ext cx="36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8818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370</Words>
  <Application>Microsoft Office PowerPoint</Application>
  <PresentationFormat>Widescreen</PresentationFormat>
  <Paragraphs>31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NimbusRomNo9L-Medi</vt:lpstr>
      <vt:lpstr>Univers 45 Light</vt:lpstr>
      <vt:lpstr>URWPalladioL-Bold</vt:lpstr>
      <vt:lpstr>URWPalladioL-Roma</vt:lpstr>
      <vt:lpstr>Office Theme</vt:lpstr>
      <vt:lpstr>Precise Skin Detection in Facial Video Recordings Using Synthetic Data</vt:lpstr>
      <vt:lpstr>Main highlights</vt:lpstr>
      <vt:lpstr>Semi-supervised Skin Detection by Network with Mutual Guidance</vt:lpstr>
      <vt:lpstr>Structure of dual-task network with mutual guidance</vt:lpstr>
      <vt:lpstr>Boundary-Attention Semantic Segmentation</vt:lpstr>
      <vt:lpstr>Structure of Boundary-Attention Semantic Segmentation</vt:lpstr>
      <vt:lpstr>Comparison of Performance of various DNN model as backbones</vt:lpstr>
      <vt:lpstr>PowerPoint Presentation</vt:lpstr>
      <vt:lpstr>DeepLab V3 plus Keras implemetation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Precise Skin Detection in Facial Video Recordings Using Synthetic Data</dc:title>
  <dc:creator>Mohd Faraz Shaikh</dc:creator>
  <cp:lastModifiedBy>Mohd Faraz Shaikh</cp:lastModifiedBy>
  <cp:revision>6</cp:revision>
  <dcterms:created xsi:type="dcterms:W3CDTF">2022-03-22T23:22:55Z</dcterms:created>
  <dcterms:modified xsi:type="dcterms:W3CDTF">2022-03-23T11:47:51Z</dcterms:modified>
</cp:coreProperties>
</file>